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9037" y="2334517"/>
            <a:ext cx="4733925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5738" y="2886967"/>
            <a:ext cx="4180522" cy="71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b="1" sz="5100" i="0" u="none">
                <a:solidFill>
                  <a:srgbClr val="F8FAFC"/>
                </a:solidFill>
                <a:latin typeface="Playfair Display"/>
              </a:rPr>
              <a:t>Green </a:t>
            </a:r>
            <a:r>
              <a:rPr b="1" sz="5100" i="0" u="none">
                <a:solidFill>
                  <a:srgbClr val="FBBF24"/>
                </a:solidFill>
                <a:latin typeface="Playfair Display"/>
              </a:rPr>
              <a:t>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37533"/>
            <a:ext cx="762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A Fact-Grounded RAG System for Navigating International Climate Agreements, Emissions Targets, and Sustainability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837" y="2100262"/>
            <a:ext cx="1838325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60570" y="2652712"/>
            <a:ext cx="6870858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Playfair Display"/>
              </a:rPr>
              <a:t>Climate Policy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71937"/>
            <a:ext cx="762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Bridging the gap between complex climate documentation and instant, hallucination-free AI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28912"/>
            <a:ext cx="5324475" cy="2219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28912"/>
            <a:ext cx="5324475" cy="2219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71812"/>
            <a:ext cx="487060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2DD4BF"/>
                </a:solidFill>
                <a:latin typeface="Playfair Display SemiBold"/>
              </a:rPr>
              <a:t>Unstructured Policy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19487"/>
            <a:ext cx="46386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Global climate policy encompasses thousands of dense reports, including the Paris Agreement, UN COP resolutions, and IPCC assessments. Finding precise, up-to-date policy details manually is time-consuming and inefficient.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71812"/>
            <a:ext cx="487060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2DD4BF"/>
                </a:solidFill>
                <a:latin typeface="Playfair Display SemiBold"/>
              </a:rPr>
              <a:t>Hallucination-Free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19487"/>
            <a:ext cx="4638675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Standard LLMs frequently generate incorrect facts or invent climate statistics. Policy decisions demand 100% verifiable outputs where every statement is traceable to its original source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The Climate Data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882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28825"/>
            <a:ext cx="559069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ayfair Display SemiBold"/>
              </a:rPr>
              <a:t>Interactive Querying &amp;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476500"/>
            <a:ext cx="5057775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Pre-configured sample prompts guide users toward key topics like Paris Agreement goals, 2030 emissions drops, and climate finance.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357562"/>
            <a:ext cx="50577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Clean, intuitive search input box for custom natural language policy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995737"/>
            <a:ext cx="50577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Strict citation enforcement: answers are directly anchored in retrieved official climate documents.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633912"/>
            <a:ext cx="50577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Designed for policymakers, researchers, and ESG analysts needing reliable data.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38350"/>
            <a:ext cx="53054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476500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357562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995737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633912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Green Future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24112"/>
            <a:ext cx="3486150" cy="2828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424112"/>
            <a:ext cx="3486150" cy="2828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424112"/>
            <a:ext cx="3486150" cy="2828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19387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424237"/>
            <a:ext cx="316039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ayfair Display SemiBold"/>
              </a:rPr>
              <a:t>1. Ingestion &amp; Chunking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71912"/>
            <a:ext cx="30099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Extracts official climate policy PDF documents and structures them into semantically meaningful text chunks while retaining document metadata.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2719387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1050" y="3424237"/>
            <a:ext cx="316039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ayfair Display SemiBold"/>
              </a:rPr>
              <a:t>2. Vector Indexing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1050" y="3871912"/>
            <a:ext cx="30099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Converts document chunks into high-dimensional vector embeddings stored in a vector database for rapid similarity retrieval.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2950" y="2719387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2950" y="3424237"/>
            <a:ext cx="316039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ayfair Display SemiBold"/>
              </a:rPr>
              <a:t>3. Grounded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2950" y="3871912"/>
            <a:ext cx="30099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Retrieves top matching policy excerpts and prompts the LLM to generate responses anchored strictly in the retrieved text.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843212"/>
            <a:ext cx="20002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9162" y="2843212"/>
            <a:ext cx="2381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3437" y="2843212"/>
            <a:ext cx="333375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Technical Pipeline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28825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028825"/>
            <a:ext cx="5590698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ayfair Display SemiBold"/>
              </a:rPr>
              <a:t>Dense Vector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725" y="2476500"/>
            <a:ext cx="50577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Unlike keyword search, semantic vector retrieval understands policy context and intent across varying terminology.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14675"/>
            <a:ext cx="50577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Connects queries regarding "financial targets" with specific clauses on the New Collective Quantified Goal (NCQG).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752850"/>
            <a:ext cx="50577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Filters out irrelevant text to maximize prompt efficiency and response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391025"/>
            <a:ext cx="50577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Ensures high recall and precision across complex legal climate frameworks.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38350"/>
            <a:ext cx="530542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476500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114675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752850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391025"/>
            <a:ext cx="123825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FBBF24"/>
                </a:solidFill>
                <a:latin typeface="Plus Jakarta Sans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Semantic Retrieval Precision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343150"/>
          <a:ext cx="11029949" cy="299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09267"/>
                <a:gridCol w="2588865"/>
                <a:gridCol w="2360116"/>
                <a:gridCol w="3371701"/>
              </a:tblGrid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DD4BF"/>
                          </a:solidFill>
                          <a:latin typeface="Plus Jakarta Sans"/>
                        </a:rPr>
                        <a:t>Feature /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DD4BF"/>
                          </a:solidFill>
                          <a:latin typeface="Plus Jakarta Sans"/>
                        </a:rPr>
                        <a:t>Standard LLM Chat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DD4BF"/>
                          </a:solidFill>
                          <a:latin typeface="Plus Jakarta Sans"/>
                        </a:rPr>
                        <a:t>Keyword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2DD4BF"/>
                          </a:solidFill>
                          <a:latin typeface="Plus Jakarta Sans"/>
                        </a:rPr>
                        <a:t>Green Future RAG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281E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Fact Grounding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Generic Knowledge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Raw Text Only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100% Document Grounded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Source Citation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None / Untraceable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Document Link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Exact Paragraph Citation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Hallucination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2DD4BF"/>
                          </a:solidFill>
                          <a:latin typeface="Plus Jakarta Sans"/>
                        </a:rPr>
                        <a:t>Zero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(No Synthesis)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2DD4BF"/>
                          </a:solidFill>
                          <a:latin typeface="Plus Jakarta Sans"/>
                        </a:rPr>
                        <a:t>Near Zero</a:t>
                      </a:r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 (Grounded Prompt)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</a:tr>
              <a:tr h="598170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Natural Language Q&amp;A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2381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High &amp; Context-Aware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81C1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943225"/>
            <a:ext cx="2709267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0292" y="2943225"/>
            <a:ext cx="2588865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79157" y="2943225"/>
            <a:ext cx="2360116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9273" y="2943225"/>
            <a:ext cx="3371701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538537"/>
            <a:ext cx="2709267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0292" y="3538537"/>
            <a:ext cx="2588865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79157" y="3538537"/>
            <a:ext cx="2360116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39273" y="3538537"/>
            <a:ext cx="3371701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4133850"/>
            <a:ext cx="2709267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0292" y="4133850"/>
            <a:ext cx="2588865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79157" y="4133850"/>
            <a:ext cx="2360116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9273" y="4133850"/>
            <a:ext cx="3371701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729162"/>
            <a:ext cx="2709267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0292" y="4729162"/>
            <a:ext cx="2588865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79157" y="4729162"/>
            <a:ext cx="2360116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9273" y="4729162"/>
            <a:ext cx="3371701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025" y="5324475"/>
            <a:ext cx="2709267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0292" y="5324475"/>
            <a:ext cx="2588865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9157" y="5324475"/>
            <a:ext cx="2360116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9273" y="5324475"/>
            <a:ext cx="3371701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657" y="4948237"/>
            <a:ext cx="123825" cy="1619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792" y="4948237"/>
            <a:ext cx="142875" cy="1619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657" y="3162300"/>
            <a:ext cx="12382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773" y="3757612"/>
            <a:ext cx="142875" cy="1619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773" y="3162300"/>
            <a:ext cx="142875" cy="1619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0792" y="3757612"/>
            <a:ext cx="123825" cy="1619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773" y="4948237"/>
            <a:ext cx="142875" cy="1619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657" y="3757612"/>
            <a:ext cx="142875" cy="1619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0792" y="3162300"/>
            <a:ext cx="123825" cy="1619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0792" y="3162300"/>
            <a:ext cx="123825" cy="1619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657" y="3162300"/>
            <a:ext cx="123825" cy="1619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9773" y="3162300"/>
            <a:ext cx="142875" cy="1619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0792" y="3757612"/>
            <a:ext cx="123825" cy="1619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657" y="3757612"/>
            <a:ext cx="142875" cy="1619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773" y="3757612"/>
            <a:ext cx="142875" cy="1619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792" y="4948237"/>
            <a:ext cx="142875" cy="16192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657" y="4948237"/>
            <a:ext cx="123825" cy="1619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773" y="4948237"/>
            <a:ext cx="142875" cy="16192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System Architecture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04925"/>
            <a:ext cx="11029950" cy="5067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8237" y="4922043"/>
            <a:ext cx="991552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b="0" sz="1275" i="1" u="none">
                <a:solidFill>
                  <a:srgbClr val="CBD5E1"/>
                </a:solidFill>
                <a:latin typeface="Plus Jakarta Sans"/>
              </a:rPr>
              <a:t>Testing demonstrates near-perfect response grounding, significantly outperforming ungrounded open-domain language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System Performance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838325"/>
            <a:ext cx="9525000" cy="847725"/>
          </a:xfrm>
          <a:prstGeom prst="roundRect">
            <a:avLst>
              <a:gd name="adj" fmla="val 11235"/>
            </a:avLst>
          </a:prstGeom>
          <a:solidFill>
            <a:srgbClr val="0D281E"/>
          </a:solidFill>
          <a:ln w="9525">
            <a:solidFill>
              <a:srgbClr val="163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57375" y="2009775"/>
            <a:ext cx="881062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Policy Analysis &amp; Compliance: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Rapidly evaluate national commitments against international treaties like the Paris Agreement and NDCs.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838450"/>
            <a:ext cx="9525000" cy="847725"/>
          </a:xfrm>
          <a:prstGeom prst="roundRect">
            <a:avLst>
              <a:gd name="adj" fmla="val 11235"/>
            </a:avLst>
          </a:prstGeom>
          <a:solidFill>
            <a:srgbClr val="0D281E"/>
          </a:solidFill>
          <a:ln w="9525">
            <a:solidFill>
              <a:srgbClr val="163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57375" y="3009900"/>
            <a:ext cx="881062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Climate Finance Tracking: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Instantly check official updates on climate adaptation funding and clean energy investment allocations.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838575"/>
            <a:ext cx="9525000" cy="847725"/>
          </a:xfrm>
          <a:prstGeom prst="roundRect">
            <a:avLst>
              <a:gd name="adj" fmla="val 11235"/>
            </a:avLst>
          </a:prstGeom>
          <a:solidFill>
            <a:srgbClr val="0D281E"/>
          </a:solidFill>
          <a:ln w="9525">
            <a:solidFill>
              <a:srgbClr val="163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57375" y="4010025"/>
            <a:ext cx="881062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ESG &amp; Corporate Reporting: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Verify environmental disclosures and regulatory standards with accurate, cited references.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4838700"/>
            <a:ext cx="9525000" cy="847725"/>
          </a:xfrm>
          <a:prstGeom prst="roundRect">
            <a:avLst>
              <a:gd name="adj" fmla="val 11235"/>
            </a:avLst>
          </a:prstGeom>
          <a:solidFill>
            <a:srgbClr val="0D281E"/>
          </a:solidFill>
          <a:ln w="9525">
            <a:solidFill>
              <a:srgbClr val="163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7375" y="5010150"/>
            <a:ext cx="8810625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8FAFC"/>
                </a:solidFill>
                <a:latin typeface="Plus Jakarta Sans"/>
              </a:rPr>
              <a:t>Public Education &amp; Research: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Provide students and civil society with simple, accurate access to complex climate literature.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676525"/>
            <a:ext cx="9525000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33500" y="3676650"/>
            <a:ext cx="9525000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3500" y="4676775"/>
            <a:ext cx="9525000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33500" y="5676900"/>
            <a:ext cx="9525000" cy="9525"/>
          </a:xfrm>
          <a:prstGeom prst="rect">
            <a:avLst/>
          </a:prstGeom>
          <a:solidFill>
            <a:srgbClr val="163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2033587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33712"/>
            <a:ext cx="209550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4033837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5033962"/>
            <a:ext cx="209550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Primary Use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Impact on Global 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400175"/>
            <a:ext cx="5540692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8FAFC"/>
                </a:solidFill>
                <a:latin typeface="Playfair Display SemiBold"/>
              </a:rPr>
              <a:t>Empowering Informed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847850"/>
            <a:ext cx="52768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Democratizing access to climate policy documents enables decision-makers to act swiftly with validated, accurate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447925"/>
            <a:ext cx="52768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Green Future turns voluminous climate policy text into actionable insight, driving forward sustainable energy transitions worldwide.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124325"/>
            <a:ext cx="2536775" cy="1133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419350"/>
            <a:ext cx="2536775" cy="113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124325"/>
            <a:ext cx="2536775" cy="1133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419350"/>
            <a:ext cx="2536775" cy="11334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819525"/>
            <a:ext cx="11029950" cy="38100"/>
          </a:xfrm>
          <a:prstGeom prst="rect">
            <a:avLst/>
          </a:prstGeom>
          <a:solidFill>
            <a:srgbClr val="1A4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7625" y="4324350"/>
            <a:ext cx="234357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2DD4BF"/>
                </a:solidFill>
                <a:latin typeface="Playfair Display SemiBol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57725"/>
            <a:ext cx="2231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Corpus Ingestion &amp; Data Structuring for IPCC and UN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8634" y="2619375"/>
            <a:ext cx="234357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2DD4BF"/>
                </a:solidFill>
                <a:latin typeface="Playfair Display SemiBold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4433" y="2952750"/>
            <a:ext cx="2231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Vector Search Indexing &amp; Embedding Model Optimization.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642" y="4324350"/>
            <a:ext cx="234357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2DD4BF"/>
                </a:solidFill>
                <a:latin typeface="Playfair Display SemiBold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442" y="4657725"/>
            <a:ext cx="2231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Grounded Prompt Engineering &amp; Citation Module Implementation.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0651" y="2619375"/>
            <a:ext cx="2343574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2DD4BF"/>
                </a:solidFill>
                <a:latin typeface="Playfair Display SemiBold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6450" y="2952750"/>
            <a:ext cx="22319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Plus Jakarta Sans"/>
              </a:rPr>
              <a:t>UI Launch &amp; Real-Time Multimodal Document Parsing Expansion.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Project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4162" y="37433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1C14"/>
          </a:solidFill>
          <a:ln w="381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5171" y="37433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1C14"/>
          </a:solidFill>
          <a:ln w="381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6179" y="37433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1C14"/>
          </a:solidFill>
          <a:ln w="381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7188" y="37433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81C14"/>
          </a:solidFill>
          <a:ln w="381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362" y="2400300"/>
            <a:ext cx="4105275" cy="466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485775"/>
            <a:ext cx="115814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Playfair Display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590675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Thank you for exploring the Green Future Climate Policy RAG project!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637" y="2562225"/>
            <a:ext cx="1619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C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00150" y="3071812"/>
            <a:ext cx="97917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0150" y="3833812"/>
            <a:ext cx="979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0150" y="3833812"/>
            <a:ext cx="97917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32146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95525" y="3221831"/>
            <a:ext cx="8696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https://miro.medium.com/v2/resize:fit:1400/1*rM_iP_jYQEVlfCZeXOaLZw.png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95525" y="3455193"/>
            <a:ext cx="8696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39862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95525" y="3993356"/>
            <a:ext cx="8696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Plus Jakarta Sans"/>
              </a:rPr>
              <a:t>https://wmo.int/sites/default/files/styles/featured_image_x1_768x512/public/2025-03/thumbnails%20energy.jpg?h=d1cb525d&amp;itok=uDR7TjOy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525" y="4226718"/>
            <a:ext cx="8696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wmo.int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layfair Display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